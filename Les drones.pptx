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antason UltraCondensed Semi-Bold Italics" charset="1" panose="00000000000000000000"/>
      <p:regular r:id="rId16"/>
    </p:embeddedFont>
    <p:embeddedFont>
      <p:font typeface="Anantason Condensed Semi-Bold" charset="1" panose="00000000000000000000"/>
      <p:regular r:id="rId17"/>
    </p:embeddedFont>
    <p:embeddedFont>
      <p:font typeface="Anantason UltraCondensed Medium" charset="1" panose="00000000000000000000"/>
      <p:regular r:id="rId18"/>
    </p:embeddedFont>
    <p:embeddedFont>
      <p:font typeface="Anantason UltraCondensed Semi-Bold" charset="1" panose="00000000000000000000"/>
      <p:regular r:id="rId19"/>
    </p:embeddedFont>
    <p:embeddedFont>
      <p:font typeface="Anantason UltraCondensed Light" charset="1" panose="00000000000000000000"/>
      <p:regular r:id="rId20"/>
    </p:embeddedFont>
    <p:embeddedFont>
      <p:font typeface="Anantason Condensed" charset="1" panose="00000000000000000000"/>
      <p:regular r:id="rId21"/>
    </p:embeddedFont>
    <p:embeddedFont>
      <p:font typeface="Anantason Condensed Medium" charset="1" panose="00000000000000000000"/>
      <p:regular r:id="rId22"/>
    </p:embeddedFont>
    <p:embeddedFont>
      <p:font typeface="Anantason UltraCondensed Bold" charset="1" panose="00000000000000000000"/>
      <p:regular r:id="rId23"/>
    </p:embeddedFont>
    <p:embeddedFont>
      <p:font typeface="Anantason UltraCondensed" charset="1" panose="00000000000000000000"/>
      <p:regular r:id="rId24"/>
    </p:embeddedFont>
    <p:embeddedFont>
      <p:font typeface="Anantason Condensed Bold" charset="1" panose="00000000000000000000"/>
      <p:regular r:id="rId25"/>
    </p:embeddedFont>
    <p:embeddedFont>
      <p:font typeface="Anantason Condensed Light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38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80.png" Type="http://schemas.openxmlformats.org/officeDocument/2006/relationships/image"/><Relationship Id="rId13" Target="../media/image81.png" Type="http://schemas.openxmlformats.org/officeDocument/2006/relationships/image"/><Relationship Id="rId14" Target="../media/image82.png" Type="http://schemas.openxmlformats.org/officeDocument/2006/relationships/image"/><Relationship Id="rId15" Target="../media/image83.png" Type="http://schemas.openxmlformats.org/officeDocument/2006/relationships/image"/><Relationship Id="rId16" Target="../media/image84.png" Type="http://schemas.openxmlformats.org/officeDocument/2006/relationships/image"/><Relationship Id="rId17" Target="../media/image85.png" Type="http://schemas.openxmlformats.org/officeDocument/2006/relationships/image"/><Relationship Id="rId18" Target="../media/image86.png" Type="http://schemas.openxmlformats.org/officeDocument/2006/relationships/image"/><Relationship Id="rId2" Target="../media/image70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100.png" Type="http://schemas.openxmlformats.org/officeDocument/2006/relationships/image"/><Relationship Id="rId13" Target="../media/image101.png" Type="http://schemas.openxmlformats.org/officeDocument/2006/relationships/image"/><Relationship Id="rId14" Target="../media/image102.png" Type="http://schemas.openxmlformats.org/officeDocument/2006/relationships/image"/><Relationship Id="rId15" Target="../media/image103.png" Type="http://schemas.openxmlformats.org/officeDocument/2006/relationships/image"/><Relationship Id="rId2" Target="../media/image90.png" Type="http://schemas.openxmlformats.org/officeDocument/2006/relationships/image"/><Relationship Id="rId3" Target="../media/image91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05.pn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3244" y="852695"/>
            <a:ext cx="13934756" cy="7510275"/>
          </a:xfrm>
          <a:custGeom>
            <a:avLst/>
            <a:gdLst/>
            <a:ahLst/>
            <a:cxnLst/>
            <a:rect r="r" b="b" t="t" l="l"/>
            <a:pathLst>
              <a:path h="7510275" w="13934756">
                <a:moveTo>
                  <a:pt x="0" y="0"/>
                </a:moveTo>
                <a:lnTo>
                  <a:pt x="13934756" y="0"/>
                </a:lnTo>
                <a:lnTo>
                  <a:pt x="13934756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73700" y="382961"/>
            <a:ext cx="6932966" cy="144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1"/>
              </a:lnSpc>
            </a:pPr>
            <a:r>
              <a:rPr lang="en-US" b="true" sz="10841" i="true">
                <a:solidFill>
                  <a:srgbClr val="F8F8F8"/>
                </a:solidFill>
                <a:latin typeface="Anantason UltraCondensed Semi-Bold Italics"/>
                <a:ea typeface="Anantason UltraCondensed Semi-Bold Italics"/>
                <a:cs typeface="Anantason UltraCondensed Semi-Bold Italics"/>
                <a:sym typeface="Anantason UltraCondensed Semi-Bold Italics"/>
              </a:rPr>
              <a:t>LES DRONES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591" y="2363334"/>
            <a:ext cx="7892475" cy="190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0"/>
              </a:lnSpc>
            </a:pPr>
            <a:r>
              <a:rPr lang="en-US" sz="5020" b="true">
                <a:solidFill>
                  <a:srgbClr val="006BEA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FONCTIONNEMENT, MÉCANISMES ET ÉLECTRONIQUE EMBARQUÉE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711687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8114" y="5304149"/>
            <a:ext cx="5519066" cy="82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true">
                <a:solidFill>
                  <a:srgbClr val="F8F8F8">
                    <a:alpha val="89804"/>
                  </a:srgbClr>
                </a:solidFill>
                <a:latin typeface="Anantason UltraCondensed Medium"/>
                <a:ea typeface="Anantason UltraCondensed Medium"/>
                <a:cs typeface="Anantason UltraCondensed Medium"/>
                <a:sym typeface="Anantason UltraCondensed Medium"/>
              </a:rPr>
              <a:t>Comprendre une technologie </a:t>
            </a:r>
          </a:p>
          <a:p>
            <a:pPr algn="l">
              <a:lnSpc>
                <a:spcPts val="3341"/>
              </a:lnSpc>
            </a:pPr>
            <a:r>
              <a:rPr lang="en-US" sz="2784" b="true">
                <a:solidFill>
                  <a:srgbClr val="F8F8F8">
                    <a:alpha val="89804"/>
                  </a:srgbClr>
                </a:solidFill>
                <a:latin typeface="Anantason UltraCondensed Medium"/>
                <a:ea typeface="Anantason UltraCondensed Medium"/>
                <a:cs typeface="Anantason UltraCondensed Medium"/>
                <a:sym typeface="Anantason UltraCondensed Medium"/>
              </a:rPr>
              <a:t>au service de l’exploration et de l’innovation.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7642" y="6795172"/>
            <a:ext cx="1566283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3041" b="true">
                <a:solidFill>
                  <a:srgbClr val="006BE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OBJECTIFS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760" y="7382545"/>
            <a:ext cx="3754422" cy="82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F8F8F8">
                    <a:alpha val="89804"/>
                  </a:srgbClr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Découvrir ce qu’est un drone </a:t>
            </a:r>
          </a:p>
          <a:p>
            <a:pPr algn="l">
              <a:lnSpc>
                <a:spcPts val="3341"/>
              </a:lnSpc>
            </a:pPr>
            <a:r>
              <a:rPr lang="en-US" sz="2784" b="true">
                <a:solidFill>
                  <a:srgbClr val="006BEA">
                    <a:alpha val="89804"/>
                  </a:srgbClr>
                </a:solidFill>
                <a:latin typeface="Anantason UltraCondensed Medium"/>
                <a:ea typeface="Anantason UltraCondensed Medium"/>
                <a:cs typeface="Anantason UltraCondensed Medium"/>
                <a:sym typeface="Anantason UltraCondensed Medium"/>
              </a:rPr>
              <a:t>définition </a:t>
            </a:r>
            <a:r>
              <a:rPr lang="en-US" sz="2784">
                <a:solidFill>
                  <a:srgbClr val="F8F8F8">
                    <a:alpha val="89804"/>
                  </a:srgbClr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et principes de 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046" y="8481986"/>
            <a:ext cx="3825824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F8F8F8">
                    <a:alpha val="89804"/>
                  </a:srgbClr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Explorer ses </a:t>
            </a:r>
            <a:r>
              <a:rPr lang="en-US" sz="2784" b="true">
                <a:solidFill>
                  <a:srgbClr val="006BEA">
                    <a:alpha val="89804"/>
                  </a:srgbClr>
                </a:solidFill>
                <a:latin typeface="Anantason UltraCondensed Medium"/>
                <a:ea typeface="Anantason UltraCondensed Medium"/>
                <a:cs typeface="Anantason UltraCondensed Medium"/>
                <a:sym typeface="Anantason UltraCondensed Medium"/>
              </a:rPr>
              <a:t>principaux usages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8114" y="9053062"/>
            <a:ext cx="5272075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F8F8F8">
                    <a:alpha val="89804"/>
                  </a:srgbClr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Comprendre comment il </a:t>
            </a:r>
            <a:r>
              <a:rPr lang="en-US" sz="2784" b="true">
                <a:solidFill>
                  <a:srgbClr val="006BEA">
                    <a:alpha val="89804"/>
                  </a:srgbClr>
                </a:solidFill>
                <a:latin typeface="Anantason UltraCondensed Medium"/>
                <a:ea typeface="Anantason UltraCondensed Medium"/>
                <a:cs typeface="Anantason UltraCondensed Medium"/>
                <a:sym typeface="Anantason UltraCondensed Medium"/>
              </a:rPr>
              <a:t>vole et fonctionne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3598" y="1924030"/>
            <a:ext cx="12414402" cy="7083928"/>
          </a:xfrm>
          <a:custGeom>
            <a:avLst/>
            <a:gdLst/>
            <a:ahLst/>
            <a:cxnLst/>
            <a:rect r="r" b="b" t="t" l="l"/>
            <a:pathLst>
              <a:path h="7083928" w="12414402">
                <a:moveTo>
                  <a:pt x="0" y="0"/>
                </a:moveTo>
                <a:lnTo>
                  <a:pt x="12414402" y="0"/>
                </a:lnTo>
                <a:lnTo>
                  <a:pt x="12414402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8151" y="397667"/>
            <a:ext cx="5157574" cy="177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7"/>
              </a:lnSpc>
            </a:pPr>
            <a:r>
              <a:rPr lang="en-US" sz="10441" b="true">
                <a:solidFill>
                  <a:srgbClr val="FFFFFF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ANATOMIE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202" y="1557352"/>
            <a:ext cx="6152463" cy="177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7"/>
              </a:lnSpc>
            </a:pPr>
            <a:r>
              <a:rPr lang="en-US" sz="10441" b="true">
                <a:solidFill>
                  <a:srgbClr val="0079F7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D’UN DRONE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2279" y="4251417"/>
            <a:ext cx="4744791" cy="9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Chaque élément a un rôle précis </a:t>
            </a:r>
          </a:p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pour assurer le vol.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4038" y="5546649"/>
            <a:ext cx="4568898" cy="9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L’ensemble forme une machine </a:t>
            </a:r>
          </a:p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stable, agile et performante.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2695" y="6962368"/>
            <a:ext cx="3703185" cy="9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Comprendre sa structure </a:t>
            </a:r>
          </a:p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pour mieux le piloter.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003" y="8363026"/>
            <a:ext cx="4772396" cy="9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Une technologie au service </a:t>
            </a:r>
          </a:p>
          <a:p>
            <a:pPr algn="l">
              <a:lnSpc>
                <a:spcPts val="3792"/>
              </a:lnSpc>
            </a:pPr>
            <a:r>
              <a:rPr lang="en-US" sz="2917" spc="-28">
                <a:solidFill>
                  <a:srgbClr val="FFFFFF">
                    <a:alpha val="89804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de l’exploration et de l’innovation.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8907" y="1721196"/>
            <a:ext cx="920307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7" spc="-28">
                <a:solidFill>
                  <a:srgbClr val="FFFFFF">
                    <a:alpha val="89804"/>
                  </a:srgbClr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Hélice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12708" y="2142670"/>
            <a:ext cx="1750048" cy="644987"/>
          </a:xfrm>
          <a:custGeom>
            <a:avLst/>
            <a:gdLst/>
            <a:ahLst/>
            <a:cxnLst/>
            <a:rect r="r" b="b" t="t" l="l"/>
            <a:pathLst>
              <a:path h="644987" w="1750048">
                <a:moveTo>
                  <a:pt x="0" y="0"/>
                </a:moveTo>
                <a:lnTo>
                  <a:pt x="1750048" y="0"/>
                </a:lnTo>
                <a:lnTo>
                  <a:pt x="175004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715003" y="1465161"/>
            <a:ext cx="1183927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7" spc="-28">
                <a:solidFill>
                  <a:srgbClr val="FFFFFF">
                    <a:alpha val="89804"/>
                  </a:srgbClr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Batterie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22220" y="1705390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677956" y="2775454"/>
            <a:ext cx="1044459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7" spc="-28">
                <a:solidFill>
                  <a:srgbClr val="FFFFFF">
                    <a:alpha val="89804"/>
                  </a:srgbClr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Moteur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319196" y="3214004"/>
            <a:ext cx="1542230" cy="644987"/>
          </a:xfrm>
          <a:custGeom>
            <a:avLst/>
            <a:gdLst/>
            <a:ahLst/>
            <a:cxnLst/>
            <a:rect r="r" b="b" t="t" l="l"/>
            <a:pathLst>
              <a:path h="644987" w="1542230">
                <a:moveTo>
                  <a:pt x="0" y="0"/>
                </a:moveTo>
                <a:lnTo>
                  <a:pt x="1542230" y="0"/>
                </a:lnTo>
                <a:lnTo>
                  <a:pt x="154223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93306" y="4552634"/>
            <a:ext cx="679399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7" spc="-28">
                <a:solidFill>
                  <a:srgbClr val="FFFFFF">
                    <a:alpha val="89804"/>
                  </a:srgbClr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Bras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831464" y="4919394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432132" y="8664243"/>
            <a:ext cx="1351228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7" spc="-28">
                <a:solidFill>
                  <a:srgbClr val="FFFFFF">
                    <a:alpha val="89804"/>
                  </a:srgbClr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Capteurs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268976" y="8570678"/>
            <a:ext cx="1531292" cy="218640"/>
          </a:xfrm>
          <a:custGeom>
            <a:avLst/>
            <a:gdLst/>
            <a:ahLst/>
            <a:cxnLst/>
            <a:rect r="r" b="b" t="t" l="l"/>
            <a:pathLst>
              <a:path h="218640" w="1531292">
                <a:moveTo>
                  <a:pt x="0" y="0"/>
                </a:moveTo>
                <a:lnTo>
                  <a:pt x="1531292" y="0"/>
                </a:lnTo>
                <a:lnTo>
                  <a:pt x="153129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839085" y="9025703"/>
            <a:ext cx="1163399" cy="4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7" spc="-28">
                <a:solidFill>
                  <a:srgbClr val="FFFFFF">
                    <a:alpha val="89804"/>
                  </a:srgbClr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Châssis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184708" y="6635716"/>
            <a:ext cx="1968804" cy="2372241"/>
          </a:xfrm>
          <a:custGeom>
            <a:avLst/>
            <a:gdLst/>
            <a:ahLst/>
            <a:cxnLst/>
            <a:rect r="r" b="b" t="t" l="l"/>
            <a:pathLst>
              <a:path h="2372241" w="1968804">
                <a:moveTo>
                  <a:pt x="0" y="0"/>
                </a:moveTo>
                <a:lnTo>
                  <a:pt x="1968804" y="0"/>
                </a:lnTo>
                <a:lnTo>
                  <a:pt x="196880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70574" y="7280704"/>
            <a:ext cx="667206" cy="1508614"/>
          </a:xfrm>
          <a:custGeom>
            <a:avLst/>
            <a:gdLst/>
            <a:ahLst/>
            <a:cxnLst/>
            <a:rect r="r" b="b" t="t" l="l"/>
            <a:pathLst>
              <a:path h="1508614" w="667206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4842" y="2776725"/>
            <a:ext cx="12206584" cy="5586245"/>
          </a:xfrm>
          <a:custGeom>
            <a:avLst/>
            <a:gdLst/>
            <a:ahLst/>
            <a:cxnLst/>
            <a:rect r="r" b="b" t="t" l="l"/>
            <a:pathLst>
              <a:path h="5586245" w="12206584">
                <a:moveTo>
                  <a:pt x="0" y="0"/>
                </a:moveTo>
                <a:lnTo>
                  <a:pt x="12206584" y="0"/>
                </a:lnTo>
                <a:lnTo>
                  <a:pt x="12206584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5244" y="1924030"/>
            <a:ext cx="656268" cy="1508614"/>
          </a:xfrm>
          <a:custGeom>
            <a:avLst/>
            <a:gdLst/>
            <a:ahLst/>
            <a:cxnLst/>
            <a:rect r="r" b="b" t="t" l="l"/>
            <a:pathLst>
              <a:path h="1508614" w="656268">
                <a:moveTo>
                  <a:pt x="0" y="0"/>
                </a:moveTo>
                <a:lnTo>
                  <a:pt x="656268" y="0"/>
                </a:lnTo>
                <a:lnTo>
                  <a:pt x="65626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42574" y="1924030"/>
            <a:ext cx="667206" cy="1508614"/>
          </a:xfrm>
          <a:custGeom>
            <a:avLst/>
            <a:gdLst/>
            <a:ahLst/>
            <a:cxnLst/>
            <a:rect r="r" b="b" t="t" l="l"/>
            <a:pathLst>
              <a:path h="1508614" w="667206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12708" y="3848060"/>
            <a:ext cx="667206" cy="1727254"/>
          </a:xfrm>
          <a:custGeom>
            <a:avLst/>
            <a:gdLst/>
            <a:ahLst/>
            <a:cxnLst/>
            <a:rect r="r" b="b" t="t" l="l"/>
            <a:pathLst>
              <a:path h="1727254" w="667206">
                <a:moveTo>
                  <a:pt x="0" y="0"/>
                </a:moveTo>
                <a:lnTo>
                  <a:pt x="667206" y="0"/>
                </a:lnTo>
                <a:lnTo>
                  <a:pt x="66720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5110" y="3848060"/>
            <a:ext cx="656268" cy="1727254"/>
          </a:xfrm>
          <a:custGeom>
            <a:avLst/>
            <a:gdLst/>
            <a:ahLst/>
            <a:cxnLst/>
            <a:rect r="r" b="b" t="t" l="l"/>
            <a:pathLst>
              <a:path h="1727254" w="656268">
                <a:moveTo>
                  <a:pt x="0" y="0"/>
                </a:moveTo>
                <a:lnTo>
                  <a:pt x="656268" y="0"/>
                </a:lnTo>
                <a:lnTo>
                  <a:pt x="65626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28440" y="2569017"/>
            <a:ext cx="667206" cy="1508614"/>
          </a:xfrm>
          <a:custGeom>
            <a:avLst/>
            <a:gdLst/>
            <a:ahLst/>
            <a:cxnLst/>
            <a:rect r="r" b="b" t="t" l="l"/>
            <a:pathLst>
              <a:path h="1508614" w="667206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28440" y="7280704"/>
            <a:ext cx="667206" cy="1934962"/>
          </a:xfrm>
          <a:custGeom>
            <a:avLst/>
            <a:gdLst/>
            <a:ahLst/>
            <a:cxnLst/>
            <a:rect r="r" b="b" t="t" l="l"/>
            <a:pathLst>
              <a:path h="1934962" w="667206">
                <a:moveTo>
                  <a:pt x="0" y="0"/>
                </a:moveTo>
                <a:lnTo>
                  <a:pt x="667206" y="0"/>
                </a:lnTo>
                <a:lnTo>
                  <a:pt x="66720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4842" y="4493047"/>
            <a:ext cx="1104718" cy="1727254"/>
          </a:xfrm>
          <a:custGeom>
            <a:avLst/>
            <a:gdLst/>
            <a:ahLst/>
            <a:cxnLst/>
            <a:rect r="r" b="b" t="t" l="l"/>
            <a:pathLst>
              <a:path h="1727254" w="1104718">
                <a:moveTo>
                  <a:pt x="0" y="0"/>
                </a:moveTo>
                <a:lnTo>
                  <a:pt x="1104718" y="0"/>
                </a:lnTo>
                <a:lnTo>
                  <a:pt x="110471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37952" y="3848060"/>
            <a:ext cx="1542230" cy="1519546"/>
          </a:xfrm>
          <a:custGeom>
            <a:avLst/>
            <a:gdLst/>
            <a:ahLst/>
            <a:cxnLst/>
            <a:rect r="r" b="b" t="t" l="l"/>
            <a:pathLst>
              <a:path h="1519546" w="1542230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12120" y="859748"/>
            <a:ext cx="5760665" cy="112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3"/>
              </a:lnSpc>
            </a:pPr>
            <a:r>
              <a:rPr lang="en-US" b="true" sz="9144" spc="-183">
                <a:solidFill>
                  <a:srgbClr val="F8F8F8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COMMENT 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062" y="1998694"/>
            <a:ext cx="5766492" cy="125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b="true" sz="10128" spc="-202">
                <a:solidFill>
                  <a:srgbClr val="007DFF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DRONE VOLE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3421712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56441" y="4164954"/>
            <a:ext cx="4007415" cy="10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3341" spc="-32">
                <a:solidFill>
                  <a:srgbClr val="D9D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Quatre moteurs génèrent la poussée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5564382"/>
            <a:ext cx="3718852" cy="229572"/>
          </a:xfrm>
          <a:custGeom>
            <a:avLst/>
            <a:gdLst/>
            <a:ahLst/>
            <a:cxnLst/>
            <a:rect r="r" b="b" t="t" l="l"/>
            <a:pathLst>
              <a:path h="229572" w="3718852">
                <a:moveTo>
                  <a:pt x="0" y="0"/>
                </a:moveTo>
                <a:lnTo>
                  <a:pt x="3718852" y="0"/>
                </a:lnTo>
                <a:lnTo>
                  <a:pt x="3718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62030" y="5959662"/>
            <a:ext cx="3448586" cy="98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240" spc="-31">
                <a:solidFill>
                  <a:srgbClr val="D9D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La vitesse des hélices s'ajuste en temps réel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5330" y="7280704"/>
            <a:ext cx="3718852" cy="229572"/>
          </a:xfrm>
          <a:custGeom>
            <a:avLst/>
            <a:gdLst/>
            <a:ahLst/>
            <a:cxnLst/>
            <a:rect r="r" b="b" t="t" l="l"/>
            <a:pathLst>
              <a:path h="229572" w="3718852">
                <a:moveTo>
                  <a:pt x="0" y="0"/>
                </a:moveTo>
                <a:lnTo>
                  <a:pt x="3718852" y="0"/>
                </a:lnTo>
                <a:lnTo>
                  <a:pt x="3718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62652" y="7779556"/>
            <a:ext cx="3386404" cy="154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3341" spc="-32">
                <a:solidFill>
                  <a:srgbClr val="D9D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Monter, descendre, avancer et tourner en gardant l'équilibre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4132" y="735423"/>
            <a:ext cx="1238378" cy="13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5"/>
              </a:lnSpc>
            </a:pPr>
            <a:r>
              <a:rPr lang="en-US" sz="10265" b="true">
                <a:solidFill>
                  <a:srgbClr val="FFFFFF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2748" y="1940290"/>
            <a:ext cx="6376782" cy="13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5"/>
              </a:lnSpc>
            </a:pPr>
            <a:r>
              <a:rPr lang="en-US" sz="10265" b="true">
                <a:solidFill>
                  <a:srgbClr val="0076FF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MÉCANISME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421712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2221" y="4232039"/>
            <a:ext cx="5429449" cy="94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>
                <a:solidFill>
                  <a:srgbClr val="FFFFFF">
                    <a:alpha val="89804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Des moteurs brushless puissants pour un vol fiable et réactif.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4757" y="5692941"/>
            <a:ext cx="5175899" cy="94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>
                <a:solidFill>
                  <a:srgbClr val="FFFFFF">
                    <a:alpha val="89804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Des hélices qui tournent dans le bon sens pour créer la portance.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341" y="7183964"/>
            <a:ext cx="4817433" cy="94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>
                <a:solidFill>
                  <a:srgbClr val="FFFFFF">
                    <a:alpha val="89804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Des contrôleurs ESC qui gèrent la vitesse et la stabilité.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092354" y="852695"/>
            <a:ext cx="7415828" cy="4722618"/>
          </a:xfrm>
          <a:custGeom>
            <a:avLst/>
            <a:gdLst/>
            <a:ahLst/>
            <a:cxnLst/>
            <a:rect r="r" b="b" t="t" l="l"/>
            <a:pathLst>
              <a:path h="4722618" w="7415828">
                <a:moveTo>
                  <a:pt x="0" y="0"/>
                </a:moveTo>
                <a:lnTo>
                  <a:pt x="7415828" y="0"/>
                </a:lnTo>
                <a:lnTo>
                  <a:pt x="741582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65952" y="2776725"/>
            <a:ext cx="2406316" cy="2798589"/>
          </a:xfrm>
          <a:custGeom>
            <a:avLst/>
            <a:gdLst/>
            <a:ahLst/>
            <a:cxnLst/>
            <a:rect r="r" b="b" t="t" l="l"/>
            <a:pathLst>
              <a:path h="2798589" w="2406316">
                <a:moveTo>
                  <a:pt x="0" y="0"/>
                </a:moveTo>
                <a:lnTo>
                  <a:pt x="2406316" y="0"/>
                </a:lnTo>
                <a:lnTo>
                  <a:pt x="240631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23818" y="2142670"/>
            <a:ext cx="4364182" cy="5367606"/>
          </a:xfrm>
          <a:custGeom>
            <a:avLst/>
            <a:gdLst/>
            <a:ahLst/>
            <a:cxnLst/>
            <a:rect r="r" b="b" t="t" l="l"/>
            <a:pathLst>
              <a:path h="5367606" w="4364182">
                <a:moveTo>
                  <a:pt x="0" y="0"/>
                </a:moveTo>
                <a:lnTo>
                  <a:pt x="4364182" y="0"/>
                </a:lnTo>
                <a:lnTo>
                  <a:pt x="436418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6488" y="5564382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66984" y="6818461"/>
            <a:ext cx="1560814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949">
                <a:solidFill>
                  <a:srgbClr val="0076FF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SENS HORAIRE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65952" y="5564382"/>
            <a:ext cx="2625072" cy="1082267"/>
          </a:xfrm>
          <a:custGeom>
            <a:avLst/>
            <a:gdLst/>
            <a:ahLst/>
            <a:cxnLst/>
            <a:rect r="r" b="b" t="t" l="l"/>
            <a:pathLst>
              <a:path h="1082267" w="2625072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22418" y="6818461"/>
            <a:ext cx="2029415" cy="24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949">
                <a:solidFill>
                  <a:srgbClr val="0076FF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SENS ANTIHORAIRE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7280704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445598" y="7499343"/>
            <a:ext cx="2187560" cy="1289974"/>
          </a:xfrm>
          <a:custGeom>
            <a:avLst/>
            <a:gdLst/>
            <a:ahLst/>
            <a:cxnLst/>
            <a:rect r="r" b="b" t="t" l="l"/>
            <a:pathLst>
              <a:path h="1289974" w="2187560">
                <a:moveTo>
                  <a:pt x="0" y="0"/>
                </a:moveTo>
                <a:lnTo>
                  <a:pt x="2187560" y="0"/>
                </a:lnTo>
                <a:lnTo>
                  <a:pt x="218756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159307" y="7918897"/>
            <a:ext cx="924113" cy="52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b="true" sz="3974">
                <a:solidFill>
                  <a:srgbClr val="0076F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ESC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528440" y="8570678"/>
            <a:ext cx="229694" cy="644987"/>
          </a:xfrm>
          <a:custGeom>
            <a:avLst/>
            <a:gdLst/>
            <a:ahLst/>
            <a:cxnLst/>
            <a:rect r="r" b="b" t="t" l="l"/>
            <a:pathLst>
              <a:path h="644987" w="229694">
                <a:moveTo>
                  <a:pt x="0" y="0"/>
                </a:moveTo>
                <a:lnTo>
                  <a:pt x="229694" y="0"/>
                </a:lnTo>
                <a:lnTo>
                  <a:pt x="22969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019765" y="9373322"/>
            <a:ext cx="1203196" cy="29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2366">
                <a:solidFill>
                  <a:srgbClr val="0076FF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BATTERIE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22220" y="7280704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90449" y="4243008"/>
            <a:ext cx="595324" cy="41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8"/>
              </a:lnSpc>
            </a:pPr>
            <a:r>
              <a:rPr lang="en-US" b="true" sz="2018">
                <a:solidFill>
                  <a:srgbClr val="FFFFFF">
                    <a:alpha val="60000"/>
                  </a:srgbClr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2306</a:t>
            </a:r>
          </a:p>
          <a:p>
            <a:pPr algn="ctr">
              <a:lnSpc>
                <a:spcPts val="1392"/>
              </a:lnSpc>
            </a:pPr>
            <a:r>
              <a:rPr lang="en-US" sz="1392">
                <a:solidFill>
                  <a:srgbClr val="FFFFFF">
                    <a:alpha val="60000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KY 1550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22836" y="4588804"/>
            <a:ext cx="520659" cy="30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"/>
              </a:lnSpc>
            </a:pPr>
            <a:r>
              <a:rPr lang="en-US" b="true" sz="1392">
                <a:solidFill>
                  <a:srgbClr val="FFFFFF">
                    <a:alpha val="60000"/>
                  </a:srgbClr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2207</a:t>
            </a:r>
          </a:p>
          <a:p>
            <a:pPr algn="ctr">
              <a:lnSpc>
                <a:spcPts val="1252"/>
              </a:lnSpc>
            </a:pPr>
            <a:r>
              <a:rPr lang="en-US" sz="1252">
                <a:solidFill>
                  <a:srgbClr val="FFFFFF">
                    <a:alpha val="60000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KY 1750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4786" y="673299"/>
            <a:ext cx="5136228" cy="121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b="true" sz="9180" spc="-89">
                <a:solidFill>
                  <a:srgbClr val="F6F6F6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LE CERVEAU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849" y="1766551"/>
            <a:ext cx="4229912" cy="114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6"/>
              </a:lnSpc>
            </a:pPr>
            <a:r>
              <a:rPr lang="en-US" b="true" sz="8606" spc="-84">
                <a:solidFill>
                  <a:srgbClr val="0273F3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DU DRONE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99536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324" y="3324636"/>
            <a:ext cx="6882443" cy="141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25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 contrôleur de vol est le centre de traitement.</a:t>
            </a:r>
          </a:p>
          <a:p>
            <a:pPr algn="l">
              <a:lnSpc>
                <a:spcPts val="3928"/>
              </a:lnSpc>
            </a:pPr>
            <a:r>
              <a:rPr lang="en-US" sz="2619" spc="-25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Il analyse les informations venant des capteurs.</a:t>
            </a:r>
          </a:p>
          <a:p>
            <a:pPr algn="l">
              <a:lnSpc>
                <a:spcPts val="3928"/>
              </a:lnSpc>
            </a:pPr>
            <a:r>
              <a:rPr lang="en-US" sz="2619" spc="-25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Il corrige l'inclinaison et stabilise le drone en temps réel.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4919394"/>
            <a:ext cx="7197072" cy="4941258"/>
          </a:xfrm>
          <a:custGeom>
            <a:avLst/>
            <a:gdLst/>
            <a:ahLst/>
            <a:cxnLst/>
            <a:rect r="r" b="b" t="t" l="l"/>
            <a:pathLst>
              <a:path h="4941258" w="7197072">
                <a:moveTo>
                  <a:pt x="0" y="0"/>
                </a:moveTo>
                <a:lnTo>
                  <a:pt x="7197072" y="0"/>
                </a:lnTo>
                <a:lnTo>
                  <a:pt x="719707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75695" y="1501837"/>
            <a:ext cx="3002772" cy="35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b="true" sz="2775">
                <a:solidFill>
                  <a:srgbClr val="176FE2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SCHÉMA FONCTIONNEL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20622" y="2776725"/>
            <a:ext cx="3489158" cy="5159898"/>
          </a:xfrm>
          <a:custGeom>
            <a:avLst/>
            <a:gdLst/>
            <a:ahLst/>
            <a:cxnLst/>
            <a:rect r="r" b="b" t="t" l="l"/>
            <a:pathLst>
              <a:path h="5159898" w="3489158">
                <a:moveTo>
                  <a:pt x="0" y="0"/>
                </a:moveTo>
                <a:lnTo>
                  <a:pt x="3489158" y="0"/>
                </a:lnTo>
                <a:lnTo>
                  <a:pt x="3489158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2329" y="3946405"/>
            <a:ext cx="2210590" cy="71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4"/>
              </a:lnSpc>
            </a:pPr>
            <a:r>
              <a:rPr lang="en-US" b="true" sz="2596">
                <a:solidFill>
                  <a:srgbClr val="176FE2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CONTRÔLEUR</a:t>
            </a:r>
          </a:p>
          <a:p>
            <a:pPr algn="ctr">
              <a:lnSpc>
                <a:spcPts val="2854"/>
              </a:lnSpc>
            </a:pPr>
            <a:r>
              <a:rPr lang="en-US" b="true" sz="2596">
                <a:solidFill>
                  <a:srgbClr val="176FE2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DE VOL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5152" y="5227406"/>
            <a:ext cx="2144945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traite les données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04340" y="5875022"/>
            <a:ext cx="1866568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ajuste l'attitude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98920" y="6552760"/>
            <a:ext cx="2677408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calcule les corrections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840976" y="7707051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45598" y="2995365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06488" y="2142670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824761" y="2376907"/>
            <a:ext cx="1606457" cy="62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279" spc="-22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Capteurs</a:t>
            </a:r>
          </a:p>
          <a:p>
            <a:pPr algn="ctr">
              <a:lnSpc>
                <a:spcPts val="2506"/>
              </a:lnSpc>
            </a:pPr>
            <a:r>
              <a:rPr lang="en-US" sz="2279" spc="-22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 mouvement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74610" y="3205171"/>
            <a:ext cx="1306759" cy="51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1916" spc="-18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accéléromètre gyroscope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5598" y="4493047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06488" y="4066699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056762" y="4368938"/>
            <a:ext cx="1142455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Capteur d'altitude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445598" y="5990729"/>
            <a:ext cx="1093780" cy="448211"/>
          </a:xfrm>
          <a:custGeom>
            <a:avLst/>
            <a:gdLst/>
            <a:ahLst/>
            <a:cxnLst/>
            <a:rect r="r" b="b" t="t" l="l"/>
            <a:pathLst>
              <a:path h="448211" w="1093780">
                <a:moveTo>
                  <a:pt x="0" y="0"/>
                </a:moveTo>
                <a:lnTo>
                  <a:pt x="1093780" y="0"/>
                </a:lnTo>
                <a:lnTo>
                  <a:pt x="109378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06488" y="5564382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005944" y="5799718"/>
            <a:ext cx="1244091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Récepteur radio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445598" y="7280704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706488" y="6854356"/>
            <a:ext cx="1968804" cy="1289974"/>
          </a:xfrm>
          <a:custGeom>
            <a:avLst/>
            <a:gdLst/>
            <a:ahLst/>
            <a:cxnLst/>
            <a:rect r="r" b="b" t="t" l="l"/>
            <a:pathLst>
              <a:path h="1289974" w="196880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096761" y="7215437"/>
            <a:ext cx="1062457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Autres</a:t>
            </a:r>
          </a:p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capteurs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580086" y="3214004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673866" y="2776725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173134" y="3043584"/>
            <a:ext cx="1000757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Moteurs</a:t>
            </a:r>
          </a:p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(4)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580086" y="471168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73866" y="4285339"/>
            <a:ext cx="1968804" cy="1508614"/>
          </a:xfrm>
          <a:custGeom>
            <a:avLst/>
            <a:gdLst/>
            <a:ahLst/>
            <a:cxnLst/>
            <a:rect r="r" b="b" t="t" l="l"/>
            <a:pathLst>
              <a:path h="1508614" w="196880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6443801" y="4796341"/>
            <a:ext cx="459424" cy="35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515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ESC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4580086" y="6428009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673866" y="5783021"/>
            <a:ext cx="1968804" cy="1508614"/>
          </a:xfrm>
          <a:custGeom>
            <a:avLst/>
            <a:gdLst/>
            <a:ahLst/>
            <a:cxnLst/>
            <a:rect r="r" b="b" t="t" l="l"/>
            <a:pathLst>
              <a:path h="1508614" w="196880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050563" y="6236483"/>
            <a:ext cx="1245900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Autres</a:t>
            </a:r>
          </a:p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dispositifs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1320622" y="8352038"/>
            <a:ext cx="3489158" cy="1508614"/>
          </a:xfrm>
          <a:custGeom>
            <a:avLst/>
            <a:gdLst/>
            <a:ahLst/>
            <a:cxnLst/>
            <a:rect r="r" b="b" t="t" l="l"/>
            <a:pathLst>
              <a:path h="1508614" w="3489158">
                <a:moveTo>
                  <a:pt x="0" y="0"/>
                </a:moveTo>
                <a:lnTo>
                  <a:pt x="3489158" y="0"/>
                </a:lnTo>
                <a:lnTo>
                  <a:pt x="348915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857103" y="8736582"/>
            <a:ext cx="256104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spc="-24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Interface / télémétrie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18107" y="9163759"/>
            <a:ext cx="2039035" cy="27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2039" spc="-19">
                <a:solidFill>
                  <a:srgbClr val="F6F6F6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retour d'informations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184" y="1053670"/>
            <a:ext cx="6696473" cy="897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3"/>
              </a:lnSpc>
            </a:pPr>
            <a:r>
              <a:rPr lang="en-US" sz="6853" b="true">
                <a:solidFill>
                  <a:srgbClr val="F8F8F8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LES COMPOSANTS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4464" y="2198950"/>
            <a:ext cx="6168416" cy="91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9"/>
              </a:lnSpc>
            </a:pPr>
            <a:r>
              <a:rPr lang="en-US" sz="6989" b="true">
                <a:solidFill>
                  <a:srgbClr val="0075FF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ÉLECTRONIQUES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421712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7498" y="4163148"/>
            <a:ext cx="5222902" cy="88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1"/>
              </a:lnSpc>
            </a:pPr>
            <a:r>
              <a:rPr lang="en-US" sz="2801" spc="-27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Des modules embarqués coordonnent la navigation, le contrôle et l’énergie.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545" y="5486076"/>
            <a:ext cx="4018135" cy="95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945" spc="-28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Ils mesurent, communiquent et pilotent chaque action.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1883" y="6949422"/>
            <a:ext cx="5784357" cy="92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818" spc="-27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Une intégration compacte</a:t>
            </a:r>
          </a:p>
          <a:p>
            <a:pPr algn="l">
              <a:lnSpc>
                <a:spcPts val="3662"/>
              </a:lnSpc>
            </a:pPr>
            <a:r>
              <a:rPr lang="en-US" sz="2818" spc="-27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au service de la stabilité et de la précision.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11110" y="852695"/>
            <a:ext cx="11331560" cy="9434305"/>
          </a:xfrm>
          <a:custGeom>
            <a:avLst/>
            <a:gdLst/>
            <a:ahLst/>
            <a:cxnLst/>
            <a:rect r="r" b="b" t="t" l="l"/>
            <a:pathLst>
              <a:path h="9434305" w="11331560">
                <a:moveTo>
                  <a:pt x="0" y="0"/>
                </a:moveTo>
                <a:lnTo>
                  <a:pt x="11331560" y="0"/>
                </a:lnTo>
                <a:lnTo>
                  <a:pt x="11331560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51526" y="1930520"/>
            <a:ext cx="482593" cy="3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IMU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31464" y="2350377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37601" y="2363314"/>
            <a:ext cx="1875036" cy="73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355" spc="-23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gyroscope</a:t>
            </a:r>
          </a:p>
          <a:p>
            <a:pPr algn="l">
              <a:lnSpc>
                <a:spcPts val="3061"/>
              </a:lnSpc>
            </a:pPr>
            <a:r>
              <a:rPr lang="en-US" sz="2355" spc="-23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et accéléromètre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13257" y="1177478"/>
            <a:ext cx="1409777" cy="3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55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GPS / GNSS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84708" y="1497682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31895" y="2864293"/>
            <a:ext cx="1291781" cy="3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Baromètre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142574" y="3214004"/>
            <a:ext cx="2843828" cy="863627"/>
          </a:xfrm>
          <a:custGeom>
            <a:avLst/>
            <a:gdLst/>
            <a:ahLst/>
            <a:cxnLst/>
            <a:rect r="r" b="b" t="t" l="l"/>
            <a:pathLst>
              <a:path h="863627" w="2843828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141261" y="4325194"/>
            <a:ext cx="1254369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Récepteur radio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892622" y="4285339"/>
            <a:ext cx="218756" cy="863627"/>
          </a:xfrm>
          <a:custGeom>
            <a:avLst/>
            <a:gdLst/>
            <a:ahLst/>
            <a:cxnLst/>
            <a:rect r="r" b="b" t="t" l="l"/>
            <a:pathLst>
              <a:path h="863627" w="218756">
                <a:moveTo>
                  <a:pt x="0" y="0"/>
                </a:moveTo>
                <a:lnTo>
                  <a:pt x="218756" y="0"/>
                </a:lnTo>
                <a:lnTo>
                  <a:pt x="2187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798842" y="513803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072834" y="9093945"/>
            <a:ext cx="1821299" cy="74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Caméra</a:t>
            </a:r>
          </a:p>
          <a:p>
            <a:pPr algn="l">
              <a:lnSpc>
                <a:spcPts val="2974"/>
              </a:lnSpc>
            </a:pPr>
            <a:r>
              <a:rPr lang="en-US" sz="247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selon le modéle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923818" y="813339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014899" y="8707899"/>
            <a:ext cx="1338960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Régulateur de tension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65952" y="7707051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107389" y="8707899"/>
            <a:ext cx="969685" cy="3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Batterie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050220" y="8352038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311110" y="5564382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532629" y="5144015"/>
            <a:ext cx="463219" cy="38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532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ESC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4173" y="777977"/>
            <a:ext cx="8839721" cy="209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0"/>
              </a:lnSpc>
            </a:pPr>
            <a:r>
              <a:rPr lang="en-US" b="true" sz="8490" spc="-82">
                <a:solidFill>
                  <a:srgbClr val="F8F8F8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COMMENT LES PIÈCES </a:t>
            </a:r>
            <a:r>
              <a:rPr lang="en-US" b="true" sz="8490" spc="-82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COMMUNIQUENT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3214004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8029" y="4344333"/>
            <a:ext cx="3133002" cy="85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3028" spc="-60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Les </a:t>
            </a:r>
            <a:r>
              <a:rPr lang="en-US" sz="3028" spc="-60" b="true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capteurs</a:t>
            </a:r>
          </a:p>
          <a:p>
            <a:pPr algn="l">
              <a:lnSpc>
                <a:spcPts val="3483"/>
              </a:lnSpc>
            </a:pPr>
            <a:r>
              <a:rPr lang="en-US" sz="3028" spc="-60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mesurent le mouvement.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9899" y="5910660"/>
            <a:ext cx="2946072" cy="85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3028" spc="-60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 </a:t>
            </a:r>
            <a:r>
              <a:rPr lang="en-US" sz="3028" spc="-60" b="true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contrôleur</a:t>
            </a:r>
          </a:p>
          <a:p>
            <a:pPr algn="l">
              <a:lnSpc>
                <a:spcPts val="3483"/>
              </a:lnSpc>
            </a:pPr>
            <a:r>
              <a:rPr lang="en-US" sz="3028" spc="-60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calcule les corrections.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6898" y="7482525"/>
            <a:ext cx="2246128" cy="134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3149" spc="-6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Les </a:t>
            </a:r>
            <a:r>
              <a:rPr lang="en-US" sz="3149" spc="-63" b="true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ESC</a:t>
            </a:r>
          </a:p>
          <a:p>
            <a:pPr algn="l">
              <a:lnSpc>
                <a:spcPts val="3623"/>
              </a:lnSpc>
            </a:pPr>
            <a:r>
              <a:rPr lang="en-US" sz="3149" spc="-6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règlent la vitesse</a:t>
            </a:r>
          </a:p>
          <a:p>
            <a:pPr algn="l">
              <a:lnSpc>
                <a:spcPts val="3623"/>
              </a:lnSpc>
            </a:pPr>
            <a:r>
              <a:rPr lang="en-US" sz="3149" spc="-6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des moteurs.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31464" y="2350377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35963" y="2736769"/>
            <a:ext cx="2428139" cy="4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b="true" sz="3076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TÉLÉCOMMANDE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8980" y="3250343"/>
            <a:ext cx="2322105" cy="34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443" spc="-48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envoie les commandes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51818" y="3848060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73598" y="2995365"/>
            <a:ext cx="2187560" cy="1934962"/>
          </a:xfrm>
          <a:custGeom>
            <a:avLst/>
            <a:gdLst/>
            <a:ahLst/>
            <a:cxnLst/>
            <a:rect r="r" b="b" t="t" l="l"/>
            <a:pathLst>
              <a:path h="1934962" w="2187560">
                <a:moveTo>
                  <a:pt x="0" y="0"/>
                </a:moveTo>
                <a:lnTo>
                  <a:pt x="2187560" y="0"/>
                </a:lnTo>
                <a:lnTo>
                  <a:pt x="2187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01866" y="2995365"/>
            <a:ext cx="2187560" cy="1934962"/>
          </a:xfrm>
          <a:custGeom>
            <a:avLst/>
            <a:gdLst/>
            <a:ahLst/>
            <a:cxnLst/>
            <a:rect r="r" b="b" t="t" l="l"/>
            <a:pathLst>
              <a:path h="1934962" w="2187560">
                <a:moveTo>
                  <a:pt x="0" y="0"/>
                </a:moveTo>
                <a:lnTo>
                  <a:pt x="2187560" y="0"/>
                </a:lnTo>
                <a:lnTo>
                  <a:pt x="2187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31464" y="4711687"/>
            <a:ext cx="3500096" cy="2579949"/>
          </a:xfrm>
          <a:custGeom>
            <a:avLst/>
            <a:gdLst/>
            <a:ahLst/>
            <a:cxnLst/>
            <a:rect r="r" b="b" t="t" l="l"/>
            <a:pathLst>
              <a:path h="2579949" w="3500096">
                <a:moveTo>
                  <a:pt x="0" y="0"/>
                </a:moveTo>
                <a:lnTo>
                  <a:pt x="3500096" y="0"/>
                </a:lnTo>
                <a:lnTo>
                  <a:pt x="3500096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46990" y="5262661"/>
            <a:ext cx="2353580" cy="83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b="true" sz="3092">
                <a:solidFill>
                  <a:srgbClr val="F8F8F8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CONTRÔLEUR</a:t>
            </a:r>
          </a:p>
          <a:p>
            <a:pPr algn="ctr">
              <a:lnSpc>
                <a:spcPts val="3246"/>
              </a:lnSpc>
            </a:pPr>
            <a:r>
              <a:rPr lang="en-US" b="true" sz="3092">
                <a:solidFill>
                  <a:srgbClr val="F8F8F8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DE VOL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0514" y="6262509"/>
            <a:ext cx="2419039" cy="72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2"/>
              </a:lnSpc>
            </a:pPr>
            <a:r>
              <a:rPr lang="en-US" sz="2566" spc="-51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traite les données et calcule les corrections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393952" y="5783021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72000" y="4711687"/>
            <a:ext cx="2832890" cy="2361309"/>
          </a:xfrm>
          <a:custGeom>
            <a:avLst/>
            <a:gdLst/>
            <a:ahLst/>
            <a:cxnLst/>
            <a:rect r="r" b="b" t="t" l="l"/>
            <a:pathLst>
              <a:path h="2361309" w="2832890">
                <a:moveTo>
                  <a:pt x="0" y="0"/>
                </a:moveTo>
                <a:lnTo>
                  <a:pt x="2832890" y="0"/>
                </a:lnTo>
                <a:lnTo>
                  <a:pt x="283289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54740" y="5266990"/>
            <a:ext cx="1583638" cy="4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b="true" sz="3076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CAPTEURS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2129" y="5795705"/>
            <a:ext cx="1328860" cy="7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662" spc="-5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mesurent le mouvement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873598" y="6854356"/>
            <a:ext cx="2187560" cy="1727254"/>
          </a:xfrm>
          <a:custGeom>
            <a:avLst/>
            <a:gdLst/>
            <a:ahLst/>
            <a:cxnLst/>
            <a:rect r="r" b="b" t="t" l="l"/>
            <a:pathLst>
              <a:path h="1727254" w="2187560">
                <a:moveTo>
                  <a:pt x="0" y="0"/>
                </a:moveTo>
                <a:lnTo>
                  <a:pt x="2187560" y="0"/>
                </a:lnTo>
                <a:lnTo>
                  <a:pt x="218756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747196" y="4711687"/>
            <a:ext cx="2625072" cy="2361309"/>
          </a:xfrm>
          <a:custGeom>
            <a:avLst/>
            <a:gdLst/>
            <a:ahLst/>
            <a:cxnLst/>
            <a:rect r="r" b="b" t="t" l="l"/>
            <a:pathLst>
              <a:path h="2361309" w="2625072">
                <a:moveTo>
                  <a:pt x="0" y="0"/>
                </a:moveTo>
                <a:lnTo>
                  <a:pt x="2625072" y="0"/>
                </a:lnTo>
                <a:lnTo>
                  <a:pt x="262507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057843" y="5795705"/>
            <a:ext cx="1900244" cy="7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662" spc="-5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règlent la vitesse</a:t>
            </a:r>
          </a:p>
          <a:p>
            <a:pPr algn="ctr">
              <a:lnSpc>
                <a:spcPts val="3062"/>
              </a:lnSpc>
            </a:pPr>
            <a:r>
              <a:rPr lang="en-US" sz="2662" spc="-5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des moteurs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101866" y="5783021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17598" y="4711687"/>
            <a:ext cx="2843828" cy="2361309"/>
          </a:xfrm>
          <a:custGeom>
            <a:avLst/>
            <a:gdLst/>
            <a:ahLst/>
            <a:cxnLst/>
            <a:rect r="r" b="b" t="t" l="l"/>
            <a:pathLst>
              <a:path h="2361309" w="2843828">
                <a:moveTo>
                  <a:pt x="0" y="0"/>
                </a:moveTo>
                <a:lnTo>
                  <a:pt x="2843828" y="0"/>
                </a:lnTo>
                <a:lnTo>
                  <a:pt x="284382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637164" y="5266990"/>
            <a:ext cx="1443154" cy="4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b="true" sz="3076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MOTEURS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73755" y="5795705"/>
            <a:ext cx="1569972" cy="7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662" spc="-5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génèrent</a:t>
            </a:r>
          </a:p>
          <a:p>
            <a:pPr algn="ctr">
              <a:lnSpc>
                <a:spcPts val="3062"/>
              </a:lnSpc>
            </a:pPr>
            <a:r>
              <a:rPr lang="en-US" sz="2662" spc="-53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 mouvement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361330" y="5783021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403464" y="6854356"/>
            <a:ext cx="4145426" cy="1934962"/>
          </a:xfrm>
          <a:custGeom>
            <a:avLst/>
            <a:gdLst/>
            <a:ahLst/>
            <a:cxnLst/>
            <a:rect r="r" b="b" t="t" l="l"/>
            <a:pathLst>
              <a:path h="1934962" w="4145426">
                <a:moveTo>
                  <a:pt x="0" y="0"/>
                </a:moveTo>
                <a:lnTo>
                  <a:pt x="4145426" y="0"/>
                </a:lnTo>
                <a:lnTo>
                  <a:pt x="414542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351818" y="728070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831464" y="8352038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645070" y="8730991"/>
            <a:ext cx="3096337" cy="33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b="true" sz="2496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BOUCLE DE RÉTROACTION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21189" y="9093950"/>
            <a:ext cx="2944099" cy="68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443" spc="-48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les données des capteurs</a:t>
            </a:r>
          </a:p>
          <a:p>
            <a:pPr algn="ctr">
              <a:lnSpc>
                <a:spcPts val="2810"/>
              </a:lnSpc>
            </a:pPr>
            <a:r>
              <a:rPr lang="en-US" sz="2443" spc="-48">
                <a:solidFill>
                  <a:srgbClr val="F8F8F8"/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sont renvoyées au contrôleur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1033" y="5266990"/>
            <a:ext cx="593864" cy="4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b="true" sz="3076">
                <a:solidFill>
                  <a:srgbClr val="006BFA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ESC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31464" y="2776725"/>
            <a:ext cx="10029962" cy="6012593"/>
          </a:xfrm>
          <a:custGeom>
            <a:avLst/>
            <a:gdLst/>
            <a:ahLst/>
            <a:cxnLst/>
            <a:rect r="r" b="b" t="t" l="l"/>
            <a:pathLst>
              <a:path h="6012593" w="10029962">
                <a:moveTo>
                  <a:pt x="0" y="0"/>
                </a:moveTo>
                <a:lnTo>
                  <a:pt x="10029962" y="0"/>
                </a:lnTo>
                <a:lnTo>
                  <a:pt x="1002996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5927" y="765527"/>
            <a:ext cx="5058866" cy="135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30"/>
              </a:lnSpc>
            </a:pPr>
            <a:r>
              <a:rPr lang="en-US" b="true" sz="10230" spc="-204">
                <a:solidFill>
                  <a:srgbClr val="FFFFFF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BATTERIE,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1958" y="1985455"/>
            <a:ext cx="6455801" cy="263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30"/>
              </a:lnSpc>
            </a:pPr>
            <a:r>
              <a:rPr lang="en-US" b="true" sz="10230" spc="-204">
                <a:solidFill>
                  <a:srgbClr val="0075FF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AUTONOMIE ET SÉCURITÉ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493047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4603" y="4993407"/>
            <a:ext cx="5191217" cy="93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Une batterie stocke l’énergie qui alimente le drone.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31" y="6228396"/>
            <a:ext cx="5358437" cy="93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Le poids, le vent et la charge utile influencent la durée de vol.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7169" y="7448324"/>
            <a:ext cx="4934647" cy="93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Utiliser, charger et transporter </a:t>
            </a:r>
          </a:p>
          <a:p>
            <a:pPr algn="l">
              <a:lnSpc>
                <a:spcPts val="3759"/>
              </a:lnSpc>
            </a:pPr>
            <a:r>
              <a:rPr lang="en-US" sz="3132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la batterie en toute sécurité.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4907" y="8668252"/>
            <a:ext cx="5160888" cy="93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>
                <a:solidFill>
                  <a:srgbClr val="FFFFFF">
                    <a:alpha val="84706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Respecter les recommandations du fabricant.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973" y="576521"/>
            <a:ext cx="4738668" cy="127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6"/>
              </a:lnSpc>
            </a:pPr>
            <a:r>
              <a:rPr lang="en-US" b="true" sz="9606" spc="-93">
                <a:solidFill>
                  <a:srgbClr val="FFFFFF">
                    <a:alpha val="94902"/>
                  </a:srgbClr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EXEMPLE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705390"/>
            <a:ext cx="1542230" cy="448211"/>
          </a:xfrm>
          <a:custGeom>
            <a:avLst/>
            <a:gdLst/>
            <a:ahLst/>
            <a:cxnLst/>
            <a:rect r="r" b="b" t="t" l="l"/>
            <a:pathLst>
              <a:path h="448211" w="1542230">
                <a:moveTo>
                  <a:pt x="0" y="0"/>
                </a:moveTo>
                <a:lnTo>
                  <a:pt x="1542230" y="0"/>
                </a:lnTo>
                <a:lnTo>
                  <a:pt x="154223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3387" y="2174519"/>
            <a:ext cx="5276138" cy="58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3585" spc="-35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Du décollage à l'atterrissage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0535" y="2756423"/>
            <a:ext cx="9561391" cy="51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181" spc="-31">
                <a:solidFill>
                  <a:srgbClr val="FFFFFF">
                    <a:alpha val="89804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les composants </a:t>
            </a:r>
            <a:r>
              <a:rPr lang="en-US" sz="3181" spc="-31" b="true">
                <a:solidFill>
                  <a:srgbClr val="0066F0">
                    <a:alpha val="89804"/>
                  </a:srgbClr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travaillent ensemble</a:t>
            </a:r>
            <a:r>
              <a:rPr lang="en-US" sz="3181" spc="-31">
                <a:solidFill>
                  <a:srgbClr val="FFFFFF">
                    <a:alpha val="89804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 à chaque étape du vol.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76622" y="3640352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5486" y="3727313"/>
            <a:ext cx="349695" cy="89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b="true" sz="5431" spc="-53">
                <a:solidFill>
                  <a:srgbClr val="0066F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40708" y="4066699"/>
            <a:ext cx="5239206" cy="229572"/>
          </a:xfrm>
          <a:custGeom>
            <a:avLst/>
            <a:gdLst/>
            <a:ahLst/>
            <a:cxnLst/>
            <a:rect r="r" b="b" t="t" l="l"/>
            <a:pathLst>
              <a:path h="229572" w="5239206">
                <a:moveTo>
                  <a:pt x="0" y="0"/>
                </a:moveTo>
                <a:lnTo>
                  <a:pt x="5239206" y="0"/>
                </a:lnTo>
                <a:lnTo>
                  <a:pt x="5239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50220" y="3640352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49814" y="3727313"/>
            <a:ext cx="349695" cy="89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b="true" sz="5431" spc="-53">
                <a:solidFill>
                  <a:srgbClr val="0066F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4066699"/>
            <a:ext cx="5447024" cy="229572"/>
          </a:xfrm>
          <a:custGeom>
            <a:avLst/>
            <a:gdLst/>
            <a:ahLst/>
            <a:cxnLst/>
            <a:rect r="r" b="b" t="t" l="l"/>
            <a:pathLst>
              <a:path h="229572" w="5447024">
                <a:moveTo>
                  <a:pt x="0" y="0"/>
                </a:moveTo>
                <a:lnTo>
                  <a:pt x="5447024" y="0"/>
                </a:lnTo>
                <a:lnTo>
                  <a:pt x="544702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1330" y="364035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18455" y="3727313"/>
            <a:ext cx="349695" cy="89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b="true" sz="5431" spc="-53">
                <a:solidFill>
                  <a:srgbClr val="0066F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07818" y="5990729"/>
            <a:ext cx="5239206" cy="1945894"/>
          </a:xfrm>
          <a:custGeom>
            <a:avLst/>
            <a:gdLst/>
            <a:ahLst/>
            <a:cxnLst/>
            <a:rect r="r" b="b" t="t" l="l"/>
            <a:pathLst>
              <a:path h="1945894" w="5239206">
                <a:moveTo>
                  <a:pt x="0" y="0"/>
                </a:moveTo>
                <a:lnTo>
                  <a:pt x="5239206" y="0"/>
                </a:lnTo>
                <a:lnTo>
                  <a:pt x="523920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65360" y="8112455"/>
            <a:ext cx="1708302" cy="45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b="true" sz="2865" spc="-27">
                <a:solidFill>
                  <a:srgbClr val="0066F0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Préparation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0345" y="8639406"/>
            <a:ext cx="3398332" cy="8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40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Initialisation et vérification des capteurs.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92354" y="4919394"/>
            <a:ext cx="5665780" cy="1727254"/>
          </a:xfrm>
          <a:custGeom>
            <a:avLst/>
            <a:gdLst/>
            <a:ahLst/>
            <a:cxnLst/>
            <a:rect r="r" b="b" t="t" l="l"/>
            <a:pathLst>
              <a:path h="1727254" w="5665780">
                <a:moveTo>
                  <a:pt x="0" y="0"/>
                </a:moveTo>
                <a:lnTo>
                  <a:pt x="5665780" y="0"/>
                </a:lnTo>
                <a:lnTo>
                  <a:pt x="566578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25244" y="6428009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07592" y="8112455"/>
            <a:ext cx="3121011" cy="45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b="true" sz="2865" spc="-27">
                <a:solidFill>
                  <a:srgbClr val="0066F0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Envol et déplacement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74387" y="8639406"/>
            <a:ext cx="3587421" cy="126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40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Décollage en douceur, stabilisation puis navigation vers la destination.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184708" y="5138034"/>
            <a:ext cx="5457962" cy="1727254"/>
          </a:xfrm>
          <a:custGeom>
            <a:avLst/>
            <a:gdLst/>
            <a:ahLst/>
            <a:cxnLst/>
            <a:rect r="r" b="b" t="t" l="l"/>
            <a:pathLst>
              <a:path h="1727254" w="5457962">
                <a:moveTo>
                  <a:pt x="0" y="0"/>
                </a:moveTo>
                <a:lnTo>
                  <a:pt x="5457962" y="0"/>
                </a:lnTo>
                <a:lnTo>
                  <a:pt x="5457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98842" y="6635716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308119" y="8112455"/>
            <a:ext cx="3092832" cy="45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b="true" sz="2865" spc="-27">
                <a:solidFill>
                  <a:srgbClr val="0066F0"/>
                </a:solidFill>
                <a:latin typeface="Anantason UltraCondensed Bold"/>
                <a:ea typeface="Anantason UltraCondensed Bold"/>
                <a:cs typeface="Anantason UltraCondensed Bold"/>
                <a:sym typeface="Anantason UltraCondensed Bold"/>
              </a:rPr>
              <a:t>Atterrissage contrôlé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24468" y="8639406"/>
            <a:ext cx="3660133" cy="8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40" spc="-24">
                <a:solidFill>
                  <a:srgbClr val="FFFFFF">
                    <a:alpha val="84706"/>
                  </a:srgbClr>
                </a:solidFill>
                <a:latin typeface="Anantason UltraCondensed"/>
                <a:ea typeface="Anantason UltraCondensed"/>
                <a:cs typeface="Anantason UltraCondensed"/>
                <a:sym typeface="Anantason UltraCondensed"/>
              </a:rPr>
              <a:t>Descente stable et pose précise pour un vol sécurisé.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956440" y="7062064"/>
            <a:ext cx="4156364" cy="874559"/>
          </a:xfrm>
          <a:custGeom>
            <a:avLst/>
            <a:gdLst/>
            <a:ahLst/>
            <a:cxnLst/>
            <a:rect r="r" b="b" t="t" l="l"/>
            <a:pathLst>
              <a:path h="874559" w="4156364">
                <a:moveTo>
                  <a:pt x="0" y="0"/>
                </a:moveTo>
                <a:lnTo>
                  <a:pt x="4156364" y="0"/>
                </a:lnTo>
                <a:lnTo>
                  <a:pt x="415636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059732" y="7280704"/>
            <a:ext cx="3707914" cy="655919"/>
          </a:xfrm>
          <a:custGeom>
            <a:avLst/>
            <a:gdLst/>
            <a:ahLst/>
            <a:cxnLst/>
            <a:rect r="r" b="b" t="t" l="l"/>
            <a:pathLst>
              <a:path h="655919" w="3707914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6440" y="2142670"/>
            <a:ext cx="11331560" cy="6865288"/>
          </a:xfrm>
          <a:custGeom>
            <a:avLst/>
            <a:gdLst/>
            <a:ahLst/>
            <a:cxnLst/>
            <a:rect r="r" b="b" t="t" l="l"/>
            <a:pathLst>
              <a:path h="6865288" w="11331560">
                <a:moveTo>
                  <a:pt x="0" y="0"/>
                </a:moveTo>
                <a:lnTo>
                  <a:pt x="11331560" y="0"/>
                </a:lnTo>
                <a:lnTo>
                  <a:pt x="11331560" y="6865287"/>
                </a:lnTo>
                <a:lnTo>
                  <a:pt x="0" y="686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201" y="736673"/>
            <a:ext cx="6094699" cy="128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5"/>
              </a:lnSpc>
            </a:pPr>
            <a:r>
              <a:rPr lang="en-US" b="true" sz="9745" spc="-95">
                <a:solidFill>
                  <a:srgbClr val="FFFFFF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008" y="1881296"/>
            <a:ext cx="5814092" cy="128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5"/>
              </a:lnSpc>
            </a:pPr>
            <a:r>
              <a:rPr lang="en-US" b="true" sz="9745" spc="-95">
                <a:solidFill>
                  <a:srgbClr val="0279FB"/>
                </a:solidFill>
                <a:latin typeface="Anantason UltraCondensed Semi-Bold"/>
                <a:ea typeface="Anantason UltraCondensed Semi-Bold"/>
                <a:cs typeface="Anantason UltraCondensed Semi-Bold"/>
                <a:sym typeface="Anantason UltraCondensed Semi-Bold"/>
              </a:rPr>
              <a:t>ET SOURCES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3214004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1443" y="5063018"/>
            <a:ext cx="6149452" cy="44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801">
                <a:solidFill>
                  <a:srgbClr val="FFFFFF"/>
                </a:solidFill>
                <a:latin typeface="Anantason Condensed Light"/>
                <a:ea typeface="Anantason Condensed Light"/>
                <a:cs typeface="Anantason Condensed Light"/>
                <a:sym typeface="Anantason Condensed Light"/>
              </a:rPr>
              <a:t>La </a:t>
            </a:r>
            <a:r>
              <a:rPr lang="en-US" sz="2801" b="true">
                <a:solidFill>
                  <a:srgbClr val="0279FB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mécanique</a:t>
            </a:r>
            <a:r>
              <a:rPr lang="en-US" sz="2801">
                <a:solidFill>
                  <a:srgbClr val="FFFFFF"/>
                </a:solidFill>
                <a:latin typeface="Anantason Condensed Light"/>
                <a:ea typeface="Anantason Condensed Light"/>
                <a:cs typeface="Anantason Condensed Light"/>
                <a:sym typeface="Anantason Condensed Light"/>
              </a:rPr>
              <a:t> assure stabilité et propulsion.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8728" y="5665452"/>
            <a:ext cx="7420920" cy="44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801" b="true">
                <a:solidFill>
                  <a:srgbClr val="0279FB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L'électronique</a:t>
            </a:r>
            <a:r>
              <a:rPr lang="en-US" sz="2801">
                <a:solidFill>
                  <a:srgbClr val="FFFFFF"/>
                </a:solidFill>
                <a:latin typeface="Anantason Condensed Light"/>
                <a:ea typeface="Anantason Condensed Light"/>
                <a:cs typeface="Anantason Condensed Light"/>
                <a:sym typeface="Anantason Condensed Light"/>
              </a:rPr>
              <a:t> mesure, contrôle et distribue l'énergie.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4334" y="6298007"/>
            <a:ext cx="5860310" cy="44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801">
                <a:solidFill>
                  <a:srgbClr val="FFFFFF"/>
                </a:solidFill>
                <a:latin typeface="Anantason Condensed Light"/>
                <a:ea typeface="Anantason Condensed Light"/>
                <a:cs typeface="Anantason Condensed Light"/>
                <a:sym typeface="Anantason Condensed Light"/>
              </a:rPr>
              <a:t>Le </a:t>
            </a:r>
            <a:r>
              <a:rPr lang="en-US" sz="2801" b="true">
                <a:solidFill>
                  <a:srgbClr val="0279FB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logiciel</a:t>
            </a:r>
            <a:r>
              <a:rPr lang="en-US" sz="2801">
                <a:solidFill>
                  <a:srgbClr val="FFFFFF"/>
                </a:solidFill>
                <a:latin typeface="Anantason Condensed Light"/>
                <a:ea typeface="Anantason Condensed Light"/>
                <a:cs typeface="Anantason Condensed Light"/>
                <a:sym typeface="Anantason Condensed Light"/>
              </a:rPr>
              <a:t> pilote, stabilise et adapte le vol.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6574" y="7280704"/>
            <a:ext cx="9154938" cy="2372241"/>
          </a:xfrm>
          <a:custGeom>
            <a:avLst/>
            <a:gdLst/>
            <a:ahLst/>
            <a:cxnLst/>
            <a:rect r="r" b="b" t="t" l="l"/>
            <a:pathLst>
              <a:path h="2372241" w="9154938">
                <a:moveTo>
                  <a:pt x="0" y="0"/>
                </a:moveTo>
                <a:lnTo>
                  <a:pt x="9154938" y="0"/>
                </a:lnTo>
                <a:lnTo>
                  <a:pt x="915493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7023" y="7677072"/>
            <a:ext cx="2738338" cy="41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b="true" sz="2569" spc="51">
                <a:solidFill>
                  <a:srgbClr val="0279FB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SOURCES FIABLES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473" y="8278197"/>
            <a:ext cx="3193320" cy="4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707">
                <a:solidFill>
                  <a:srgbClr val="FFFFFF"/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Documentation ArduPilot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9430" y="8760144"/>
            <a:ext cx="2497655" cy="4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707">
                <a:solidFill>
                  <a:srgbClr val="FFFFFF"/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Documentation PX4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72000" y="8133399"/>
            <a:ext cx="218756" cy="1300906"/>
          </a:xfrm>
          <a:custGeom>
            <a:avLst/>
            <a:gdLst/>
            <a:ahLst/>
            <a:cxnLst/>
            <a:rect r="r" b="b" t="t" l="l"/>
            <a:pathLst>
              <a:path h="1300906" w="218756">
                <a:moveTo>
                  <a:pt x="0" y="0"/>
                </a:moveTo>
                <a:lnTo>
                  <a:pt x="218756" y="0"/>
                </a:lnTo>
                <a:lnTo>
                  <a:pt x="21875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79633" y="8278185"/>
            <a:ext cx="3707838" cy="8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601">
                <a:solidFill>
                  <a:srgbClr val="FFFFFF"/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Guides et fiches techniques</a:t>
            </a:r>
          </a:p>
          <a:p>
            <a:pPr algn="l">
              <a:lnSpc>
                <a:spcPts val="3511"/>
              </a:lnSpc>
            </a:pPr>
            <a:r>
              <a:rPr lang="en-US" sz="2601">
                <a:solidFill>
                  <a:srgbClr val="FFFFFF"/>
                </a:solidFill>
                <a:latin typeface="Anantason UltraCondensed Light"/>
                <a:ea typeface="Anantason UltraCondensed Light"/>
                <a:cs typeface="Anantason UltraCondensed Light"/>
                <a:sym typeface="Anantason UltraCondensed Light"/>
              </a:rPr>
              <a:t>des fabricants de composants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2214" y="3963546"/>
            <a:ext cx="7072312" cy="46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sz="2851">
                <a:solidFill>
                  <a:srgbClr val="FFFFFF"/>
                </a:solidFill>
                <a:latin typeface="Anantason Condensed Light"/>
                <a:ea typeface="Anantason Condensed Light"/>
                <a:cs typeface="Anantason Condensed Light"/>
                <a:sym typeface="Anantason Condensed Light"/>
              </a:rPr>
              <a:t>Un drone repose sur trois piliers complémentaires.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DAHZVSNFeqo</dc:identifier>
  <dcterms:modified xsi:type="dcterms:W3CDTF">2011-08-01T06:04:30Z</dcterms:modified>
  <cp:revision>1</cp:revision>
  <dc:title>Les drones</dc:title>
</cp:coreProperties>
</file>